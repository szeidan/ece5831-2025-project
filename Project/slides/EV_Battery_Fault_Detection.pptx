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hl0LhzTZawNygyBKtwRXJvqxn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0d67c387a_0_431"/>
          <p:cNvSpPr/>
          <p:nvPr/>
        </p:nvSpPr>
        <p:spPr>
          <a:xfrm>
            <a:off x="-125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g3b0d67c387a_0_431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g3b0d67c387a_0_431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g3b0d67c387a_0_4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b0d67c387a_0_436"/>
          <p:cNvSpPr/>
          <p:nvPr/>
        </p:nvSpPr>
        <p:spPr>
          <a:xfrm>
            <a:off x="0" y="64132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g3b0d67c387a_0_436"/>
          <p:cNvSpPr/>
          <p:nvPr/>
        </p:nvSpPr>
        <p:spPr>
          <a:xfrm>
            <a:off x="0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g3b0d67c387a_0_436"/>
          <p:cNvSpPr txBox="1"/>
          <p:nvPr>
            <p:ph type="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g3b0d67c387a_0_4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0d67c387a_0_441"/>
          <p:cNvSpPr/>
          <p:nvPr/>
        </p:nvSpPr>
        <p:spPr>
          <a:xfrm>
            <a:off x="0" y="0"/>
            <a:ext cx="431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b0d67c387a_0_441"/>
          <p:cNvSpPr/>
          <p:nvPr/>
        </p:nvSpPr>
        <p:spPr>
          <a:xfrm>
            <a:off x="0" y="58833"/>
            <a:ext cx="4313625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g3b0d67c387a_0_441"/>
          <p:cNvSpPr/>
          <p:nvPr/>
        </p:nvSpPr>
        <p:spPr>
          <a:xfrm>
            <a:off x="-125" y="0"/>
            <a:ext cx="4316900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g3b0d67c387a_0_441"/>
          <p:cNvSpPr txBox="1"/>
          <p:nvPr>
            <p:ph type="title"/>
          </p:nvPr>
        </p:nvSpPr>
        <p:spPr>
          <a:xfrm>
            <a:off x="311725" y="667900"/>
            <a:ext cx="3706500" cy="3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3b0d67c387a_0_441"/>
          <p:cNvSpPr txBox="1"/>
          <p:nvPr>
            <p:ph idx="1" type="body"/>
          </p:nvPr>
        </p:nvSpPr>
        <p:spPr>
          <a:xfrm>
            <a:off x="4644675" y="667900"/>
            <a:ext cx="4166400" cy="54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g3b0d67c387a_0_4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0d67c387a_0_448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b0d67c387a_0_448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g3b0d67c387a_0_448"/>
          <p:cNvSpPr txBox="1"/>
          <p:nvPr>
            <p:ph idx="1" type="body"/>
          </p:nvPr>
        </p:nvSpPr>
        <p:spPr>
          <a:xfrm>
            <a:off x="3117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b0d67c387a_0_448"/>
          <p:cNvSpPr txBox="1"/>
          <p:nvPr>
            <p:ph idx="2" type="body"/>
          </p:nvPr>
        </p:nvSpPr>
        <p:spPr>
          <a:xfrm>
            <a:off x="48324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g3b0d67c387a_0_4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0d67c387a_0_454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b0d67c387a_0_454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b0d67c387a_0_4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0d67c387a_0_458"/>
          <p:cNvSpPr/>
          <p:nvPr/>
        </p:nvSpPr>
        <p:spPr>
          <a:xfrm>
            <a:off x="0" y="0"/>
            <a:ext cx="37644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b0d67c387a_0_458"/>
          <p:cNvSpPr txBox="1"/>
          <p:nvPr>
            <p:ph type="title"/>
          </p:nvPr>
        </p:nvSpPr>
        <p:spPr>
          <a:xfrm>
            <a:off x="311725" y="667900"/>
            <a:ext cx="3127500" cy="24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g3b0d67c387a_0_458"/>
          <p:cNvSpPr txBox="1"/>
          <p:nvPr>
            <p:ph idx="1" type="body"/>
          </p:nvPr>
        </p:nvSpPr>
        <p:spPr>
          <a:xfrm>
            <a:off x="311700" y="3187533"/>
            <a:ext cx="31275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g3b0d67c387a_0_4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0d67c387a_0_463"/>
          <p:cNvSpPr txBox="1"/>
          <p:nvPr>
            <p:ph type="title"/>
          </p:nvPr>
        </p:nvSpPr>
        <p:spPr>
          <a:xfrm>
            <a:off x="311675" y="1064800"/>
            <a:ext cx="6247800" cy="47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g3b0d67c387a_0_4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0d67c387a_0_46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b0d67c387a_0_466"/>
          <p:cNvSpPr txBox="1"/>
          <p:nvPr>
            <p:ph type="title"/>
          </p:nvPr>
        </p:nvSpPr>
        <p:spPr>
          <a:xfrm>
            <a:off x="311300" y="667900"/>
            <a:ext cx="3704400" cy="2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b0d67c387a_0_466"/>
          <p:cNvSpPr txBox="1"/>
          <p:nvPr>
            <p:ph idx="1" type="subTitle"/>
          </p:nvPr>
        </p:nvSpPr>
        <p:spPr>
          <a:xfrm>
            <a:off x="304800" y="3502300"/>
            <a:ext cx="3704400" cy="12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g3b0d67c387a_0_466"/>
          <p:cNvSpPr txBox="1"/>
          <p:nvPr>
            <p:ph idx="2" type="body"/>
          </p:nvPr>
        </p:nvSpPr>
        <p:spPr>
          <a:xfrm>
            <a:off x="4879025" y="667900"/>
            <a:ext cx="3954000" cy="54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g3b0d67c387a_0_4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d67c387a_0_472"/>
          <p:cNvSpPr/>
          <p:nvPr/>
        </p:nvSpPr>
        <p:spPr>
          <a:xfrm>
            <a:off x="0" y="5825333"/>
            <a:ext cx="9144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b0d67c387a_0_472"/>
          <p:cNvSpPr txBox="1"/>
          <p:nvPr>
            <p:ph idx="1" type="body"/>
          </p:nvPr>
        </p:nvSpPr>
        <p:spPr>
          <a:xfrm>
            <a:off x="311700" y="6028533"/>
            <a:ext cx="7979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g3b0d67c387a_0_4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0d67c387a_0_476"/>
          <p:cNvSpPr txBox="1"/>
          <p:nvPr>
            <p:ph hasCustomPrompt="1" type="title"/>
          </p:nvPr>
        </p:nvSpPr>
        <p:spPr>
          <a:xfrm>
            <a:off x="311750" y="1108233"/>
            <a:ext cx="5334900" cy="165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b0d67c387a_0_476"/>
          <p:cNvSpPr txBox="1"/>
          <p:nvPr>
            <p:ph idx="1" type="body"/>
          </p:nvPr>
        </p:nvSpPr>
        <p:spPr>
          <a:xfrm>
            <a:off x="311700" y="2828567"/>
            <a:ext cx="53349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g3b0d67c387a_0_4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0d67c387a_0_48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0d67c387a_0_4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g3b0d67c387a_0_48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g3b0d67c387a_0_48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b0d67c387a_0_48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b0d67c387a_0_4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0d67c387a_0_4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g3b0d67c387a_0_4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b0d67c387a_0_4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 Battery Fault Detection using Neural Networks</a:t>
            </a:r>
            <a:endParaRPr/>
          </a:p>
        </p:txBody>
      </p:sp>
      <p:sp>
        <p:nvSpPr>
          <p:cNvPr id="71" name="Google Shape;7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 5831 – Final Project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Sobhi Zeidan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Michigan – Dearborn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12/15/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 failures are safety-critical in EVs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rule-based diagnostics do not generalize well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 can learn degradation patterns directly from data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battery fault conditions from time-series sensor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discharge voltage, current, and temperature signals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multiple neural network architectures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NASA Li-ion Battery Aging Dataset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Batteries: B0005, B0006, B0007, B0018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End-of-life defined as 30% capacity fade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/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discharge cycles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faults using capacity threshold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 signals into fixed-length segments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Evaluated</a:t>
            </a:r>
            <a:endParaRPr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1D CNN (baseline)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 (recurrent)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Temporal Convolutional Network (TCN)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/>
          </a:p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Train: B0005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Validation: B0006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Test: B0018 (contains faults)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 sizes: 256 and 512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– WIN=256</a:t>
            </a:r>
            <a:endParaRPr/>
          </a:p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CNN achieved best balance of precision and recall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TCN competitive, LSTM less stable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test set evaluation performed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– WIN=512</a:t>
            </a:r>
            <a:endParaRPr/>
          </a:p>
        </p:txBody>
      </p:sp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Longer context improves CNN and TCN performance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CNN achieved highest F1 score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 struggled with limited data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>
            <p:ph type="title"/>
          </p:nvPr>
        </p:nvSpPr>
        <p:spPr>
          <a:xfrm>
            <a:off x="457200" y="274645"/>
            <a:ext cx="8229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&amp; PR Curves</a:t>
            </a:r>
            <a:endParaRPr/>
          </a:p>
        </p:txBody>
      </p:sp>
      <p:pic>
        <p:nvPicPr>
          <p:cNvPr id="125" name="Google Shape;12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75" y="1037650"/>
            <a:ext cx="34099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975" y="1075750"/>
            <a:ext cx="33147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775" y="3780725"/>
            <a:ext cx="34099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9975" y="3816100"/>
            <a:ext cx="3314700" cy="266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0"/>
          <p:cNvSpPr txBox="1"/>
          <p:nvPr/>
        </p:nvSpPr>
        <p:spPr>
          <a:xfrm>
            <a:off x="4229550" y="2062825"/>
            <a:ext cx="68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256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>
            <a:off x="4229550" y="4802825"/>
            <a:ext cx="68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512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542850" y="3781850"/>
            <a:ext cx="8143800" cy="2841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542850" y="884475"/>
            <a:ext cx="8143800" cy="2724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Threshold Tuning</a:t>
            </a:r>
            <a:endParaRPr/>
          </a:p>
        </p:txBody>
      </p:sp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decision threshold tuned on validation set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F1 score without retraining model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CNN and TCN suitable for embedded diagnostics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depends on window size and data balance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Data-driven methods show strong promise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150" name="Google Shape;150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number of batteries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dataset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domain adaptation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Multi-dataset training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learning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on embedded hardware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62" name="Google Shape;162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 can detect battery faults effectively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CNN provided best overall performance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is reproducible and extensible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